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Асимметриялық шифрлау</a:t>
            </a:r>
          </a:p>
          <a:p>
            <a:pPr>
              <a:spcBef>
                <a:spcPts val="1000"/>
              </a:spcBef>
              <a:defRPr sz="2200">
                <a:solidFill>
                  <a:srgbClr val="0F172A"/>
                </a:solidFill>
              </a:defRPr>
            </a:pPr>
            <a:r>
              <a:t>RSA, Diffie-Hellman және ECC алгоритмдерінің жұмыс принциптері</a:t>
            </a:r>
          </a:p>
          <a:p>
            <a:pPr>
              <a:spcBef>
                <a:spcPts val="2500"/>
              </a:spcBef>
              <a:defRPr sz="1400">
                <a:solidFill>
                  <a:srgbClr val="334155"/>
                </a:solidFill>
              </a:defRPr>
            </a:pPr>
            <a:r>
              <a:t>Заманауи криптография, математикалық негіздері және Python кодары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АШЫҚ КІЛТТІ КРИПТОГРАФИЯ НЕГІЗДЕРІ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Асимметриялық шифрлау деген не?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Негізгі концепция:</a:t>
            </a:r>
            <a:r>
              <a:rPr sz="1600">
                <a:solidFill>
                  <a:srgbClr val="334155"/>
                </a:solidFill>
              </a:rPr>
              <a:t> Деректерді шифрлау және дешифрлау үшін екі түрлі кілт қолданылады (Кілттер жұбы).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Ашық кілт (Public Key):</a:t>
            </a:r>
            <a:r>
              <a:rPr sz="1600">
                <a:solidFill>
                  <a:srgbClr val="334155"/>
                </a:solidFill>
              </a:rPr>
              <a:t> Баршаға қолжетімді. Деректерді шифрлау немесе қолтаңбаны тексеру үшін пайдаланылады.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Жабық кілт (Private Key):</a:t>
            </a:r>
            <a:r>
              <a:rPr sz="1600">
                <a:solidFill>
                  <a:srgbClr val="334155"/>
                </a:solidFill>
              </a:rPr>
              <a:t> Тек иесіне ғана белгілі құпия кілт. Деректерді дешифрлау немесе ЭЦҚ қою үшін қолданылады.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Басты артықшылығы:</a:t>
            </a:r>
            <a:r>
              <a:rPr sz="1600">
                <a:solidFill>
                  <a:srgbClr val="334155"/>
                </a:solidFill>
              </a:rPr>
              <a:t> Құпия кілтті желі арқылы тасымалдаудың қажеті жоқ, бұл байланыс қауіпсіздігін арттырады.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АЛГОРИТМ-1: ФАКТОРИЗАЦИЯ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RSA (Rivest–Shamir–Adleman)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Математикалық негізі:</a:t>
            </a:r>
            <a:r>
              <a:rPr sz="1500">
                <a:solidFill>
                  <a:srgbClr val="334155"/>
                </a:solidFill>
              </a:rPr>
              <a:t> Екі үлкен жай санның көбейтіндісін факторизациялаудың (жіктеудің) жоғары қиындығы.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Қолданылуы:</a:t>
            </a:r>
            <a:r>
              <a:rPr sz="1500">
                <a:solidFill>
                  <a:srgbClr val="334155"/>
                </a:solidFill>
              </a:rPr>
              <a:t> Конфиденциалды деректерді шифрлау, Электрондық цифрлық қолтаңба (ЭЦҚ).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0F172A"/>
                </a:solidFill>
              </a:rPr>
              <a:t>Генерациялау қадамдары:</a:t>
            </a:r>
            <a:r>
              <a:rPr sz="1500">
                <a:solidFill>
                  <a:srgbClr val="334155"/>
                </a:solidFill>
              </a:rPr>
              <a:t>
  1. Екі жай сан таңдалады: p және q
  2. Модуль есептеледі: n = p × q
  3. Эйлер функциясы: φ(n) = (p - 1) × (q - 1)
  4. Ашық экспонента e таңдалып, жабық экспонента d есептеледі: (d × e) mod φ(n) 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КОД МЫСАЛЫ — 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RSA: Python тіліндегі реализациясы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F1F5F9"/>
                </a:solidFill>
                <a:latin typeface="Consolas"/>
              </a:defRPr>
            </a:pPr>
            <a:r>
              <a:t># RSA Математикалық моделі</a:t>
            </a:r>
            <a:br/>
            <a:br/>
            <a:r>
              <a:t>p, q = 61, 53</a:t>
            </a:r>
            <a:br/>
            <a:r>
              <a:t>n = p * q                # Модуль: n = 3233</a:t>
            </a:r>
            <a:br/>
            <a:r>
              <a:t>phi = (p - 1) * (q - 1)  # Эйлер функциясы: phi = 3120</a:t>
            </a:r>
            <a:br/>
            <a:br/>
            <a:r>
              <a:t>e = 17                   # Ашық кілт экспонентасы</a:t>
            </a:r>
            <a:br/>
            <a:r>
              <a:t>d = pow(e, -1, phi)      # Жабық кілт экспонентасы (d = 2753)</a:t>
            </a:r>
            <a:br/>
            <a:br/>
            <a:r>
              <a:t>message = 42             # Бастапқы сан түріндегі хабарлама</a:t>
            </a:r>
            <a:br/>
            <a:br/>
            <a:r>
              <a:t># Шифрлау: C = (M ^ e) % n</a:t>
            </a:r>
            <a:br/>
            <a:r>
              <a:t>ciphertext = pow(message, e, n)</a:t>
            </a:r>
            <a:br/>
            <a:r>
              <a:t>print(f"Шифрланған хабарлама: {ciphertext}")  # Шығыс: 2557</a:t>
            </a:r>
            <a:br/>
            <a:br/>
            <a:r>
              <a:t># Дешифрлау: M = (C ^ d) % n</a:t>
            </a:r>
            <a:br/>
            <a:r>
              <a:t>decrypted = pow(ciphertext, d, n)</a:t>
            </a:r>
            <a:br/>
            <a:r>
              <a:t>print(f"Дешифрланған хабарлама: {decrypted}")  # Шығыс: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АЛГОРИТМ-2: ДИСКРЕТТІ ЛОГАРИФМ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Diffie-Hellman (DH) Кілт алмасу хаттамасы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Математикалық негізі:</a:t>
            </a:r>
            <a:r>
              <a:rPr sz="1600">
                <a:solidFill>
                  <a:srgbClr val="334155"/>
                </a:solidFill>
              </a:rPr>
              <a:t> Ақырлы өрістегі дискретті логарифмдеу мәселесінің қиындығы.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Мақсаты:</a:t>
            </a:r>
            <a:r>
              <a:rPr sz="1600">
                <a:solidFill>
                  <a:srgbClr val="334155"/>
                </a:solidFill>
              </a:rPr>
              <a:t> Хабарламаны шифрлау емес, ашық байланыс арнасы арқылы екі тарапқа ортақ құпия кілтті (Shared Secret) келісіп алуға мүмкіндік беру.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Пайдаланылуы:</a:t>
            </a:r>
            <a:r>
              <a:rPr sz="1600">
                <a:solidFill>
                  <a:srgbClr val="334155"/>
                </a:solidFill>
              </a:rPr>
              <a:t> Симметриялық шифрлау алгоритмдеріне (AES сияқты) арналған сессиялық кілттерді қауіпсіз генерациялау (TLS/SSL, VPN).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КОД МЫСАЛЫ — КІЛТ АЛМАСУ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Diffie-Hellman: Python тіліндегі реализациясы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F1F5F9"/>
                </a:solidFill>
                <a:latin typeface="Consolas"/>
              </a:defRPr>
            </a:pPr>
            <a:r>
              <a:t>import random</a:t>
            </a:r>
            <a:br/>
            <a:br/>
            <a:r>
              <a:t># Баршаға ортақ белгілі параметрлер (жай сан p және генератор g)</a:t>
            </a:r>
            <a:br/>
            <a:r>
              <a:t>p, g = 23, 5</a:t>
            </a:r>
            <a:br/>
            <a:br/>
            <a:r>
              <a:t># 1. Алиса мен Боб өздерінің құпия сандарын таңдайды</a:t>
            </a:r>
            <a:br/>
            <a:r>
              <a:t>a_private = random.randint(1, p - 1)</a:t>
            </a:r>
            <a:br/>
            <a:r>
              <a:t>b_private = random.randint(1, p - 1)</a:t>
            </a:r>
            <a:br/>
            <a:br/>
            <a:r>
              <a:t># 2. Ашық кілттерді есептейді және желі арқылы алмасады</a:t>
            </a:r>
            <a:br/>
            <a:r>
              <a:t>A_public = pow(g, a_private, p)  # Алиса Бобқа жібереді</a:t>
            </a:r>
            <a:br/>
            <a:r>
              <a:t>B_public = pow(g, b_private, p)  # Боб Алисаға жібереді</a:t>
            </a:r>
            <a:br/>
            <a:br/>
            <a:r>
              <a:t># 3. Екі тарап ортақ құпия кілтті өз бетінше есептеп шығарады</a:t>
            </a:r>
            <a:br/>
            <a:r>
              <a:t>alice_shared = pow(B_public, a_private, p)</a:t>
            </a:r>
            <a:br/>
            <a:r>
              <a:t>bob_shared = pow(A_public, b_private, p)</a:t>
            </a:r>
            <a:br/>
            <a:br/>
            <a:r>
              <a:t>print(f"Алиса есептеген кілт: {alice_shared}")</a:t>
            </a:r>
            <a:br/>
            <a:r>
              <a:t>print(f"Боб есептеген кілт:   {bob_shared}")  # Екі мән толықтай бірдей!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АЛГОРИТМ-3: ЭЛЛИПСТІК ҚИСЫҚТАР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ECC (Elliptic Curve Cryptography)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Математикалық негізі:</a:t>
            </a:r>
            <a:r>
              <a:rPr sz="1600">
                <a:solidFill>
                  <a:srgbClr val="334155"/>
                </a:solidFill>
              </a:rPr>
              <a:t> y² = x³ + ax + b теңдеуімен берілген эллипстік қисық бойындағы нүктелерді көбейту операциялары.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Басты артықшылығы:</a:t>
            </a:r>
            <a:r>
              <a:rPr sz="1600">
                <a:solidFill>
                  <a:srgbClr val="334155"/>
                </a:solidFill>
              </a:rPr>
              <a:t> Өте шағын кілт көлемімен өте жоғары криптографиялық беріктік береді. Есептеу ресурсы аз құрылғыларға (смартфондар, IoT) қолайлы.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Кілт көлемін салыстыру:</a:t>
            </a:r>
            <a:r>
              <a:rPr sz="1600">
                <a:solidFill>
                  <a:srgbClr val="334155"/>
                </a:solidFill>
              </a:rPr>
              <a:t> 256-биттық ECC кілті қауіпсіздігі жағынан 3072-биттық RSA кілтіне толықтай эквивалент.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КОД МЫСАЛЫ — СТАНДАРТТЫ КІТАПХАНА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ECC (ECDH): Python тіліндегі реализациясы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F1F5F9"/>
                </a:solidFill>
                <a:latin typeface="Consolas"/>
              </a:defRPr>
            </a:pPr>
            <a:r>
              <a:t>from cryptography.hazmat.primitives.asymmetric import ec</a:t>
            </a:r>
            <a:br/>
            <a:br/>
            <a:r>
              <a:t># 1. Алиса мен Боб SECP256R1 эллипстік қисығында кілт жұптарын генерациялайды</a:t>
            </a:r>
            <a:br/>
            <a:r>
              <a:t>alice_private_key = ec.generate_private_key(ec.SECP256R1())</a:t>
            </a:r>
            <a:br/>
            <a:r>
              <a:t>bob_private_key = ec.generate_private_key(ec.SECP256R1())</a:t>
            </a:r>
            <a:br/>
            <a:br/>
            <a:r>
              <a:t># 2. Ашық кілттерді алу</a:t>
            </a:r>
            <a:br/>
            <a:r>
              <a:t>alice_public_key = alice_private_key.public_key()</a:t>
            </a:r>
            <a:br/>
            <a:r>
              <a:t>bob_public_key = bob_private_key.public_key()</a:t>
            </a:r>
            <a:br/>
            <a:br/>
            <a:r>
              <a:t># 3. ECDH хаттамасы арқылы ортақ құпия кілтті есептеу</a:t>
            </a:r>
            <a:br/>
            <a:r>
              <a:t>alice_shared_key = alice_private_key.exchange(ec.ECDH(), bob_public_key)</a:t>
            </a:r>
            <a:br/>
            <a:r>
              <a:t>bob_shared_key = bob_private_key.exchange(ec.ECDH(), alice_public_key)</a:t>
            </a:r>
            <a:br/>
            <a:br/>
            <a:r>
              <a:t>print(f"Алиса кілті (hex): {alice_shared_key.hex()[:24]}...")</a:t>
            </a:r>
            <a:br/>
            <a:r>
              <a:t>print(f"Боб кілті (hex):   {bob_shared_key.hex()[:24]}...")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САЛЫСТЫРУ КЕСТЕСІ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Алгоритмдерді салыстырмалы талдау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RSA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Diffie-Hellman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4155"/>
                          </a:solidFill>
                        </a:defRPr>
                      </a:pPr>
                      <a:r>
                        <a:t>Математикасы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Үлкен сандарды факторизациялау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Дискретті логарифм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Эллипстік қисықтар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4155"/>
                          </a:solidFill>
                        </a:defRPr>
                      </a:pPr>
                      <a:r>
                        <a:t>Кілт ұзындығы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2048 - 4096 бит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2048 - 4096 бит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256 - 384 бит (Ең шағын)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4155"/>
                          </a:solidFill>
                        </a:defRPr>
                      </a:pPr>
                      <a:r>
                        <a:t>Жылдамдығы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Баяу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Орташа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Өте жылдам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4155"/>
                          </a:solidFill>
                        </a:defRPr>
                      </a:pPr>
                      <a:r>
                        <a:t>Ресурсты тұтыну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Жоғары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Орташа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Төмен (Тиімді)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34155"/>
                          </a:solidFill>
                        </a:defRPr>
                      </a:pPr>
                      <a:r>
                        <a:t>Негізгі бағыты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Шифрлау, ЭЦҚ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Кілттерді қауіпсіз алмасу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Кілт алмасу, ЭЦҚ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ТҮЙІН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Қорытынды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RSA:</a:t>
            </a:r>
            <a:r>
              <a:rPr sz="1600">
                <a:solidFill>
                  <a:srgbClr val="334155"/>
                </a:solidFill>
              </a:rPr>
              <a:t> Криптографияның классикалық негізі. Сенімді, бірақ үлкен кілттерді талап етеді.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Diffie-Hellman:</a:t>
            </a:r>
            <a:r>
              <a:rPr sz="1600">
                <a:solidFill>
                  <a:srgbClr val="334155"/>
                </a:solidFill>
              </a:rPr>
              <a:t> Ашық желіде құпия кілттерді қауіпсіз келісіп алудың таптырмас хаттамасы.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0F172A"/>
                </a:solidFill>
              </a:rPr>
              <a:t>ECC:</a:t>
            </a:r>
            <a:r>
              <a:rPr sz="1600">
                <a:solidFill>
                  <a:srgbClr val="334155"/>
                </a:solidFill>
              </a:rPr>
              <a:t> Заманауи криптографияның стандарты. Шағын кілт көлемімен жоғары жылдамдық пен берік қауіпсіздік береді.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Назарларыңызға рахмет!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